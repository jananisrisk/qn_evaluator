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73" r:id="rId9"/>
    <p:sldId id="275" r:id="rId10"/>
    <p:sldId id="271" r:id="rId11"/>
    <p:sldId id="269" r:id="rId12"/>
    <p:sldId id="274" r:id="rId13"/>
    <p:sldId id="279" r:id="rId14"/>
    <p:sldId id="277" r:id="rId15"/>
    <p:sldId id="267" r:id="rId16"/>
    <p:sldId id="268" r:id="rId17"/>
  </p:sldIdLst>
  <p:sldSz cx="18288000" cy="10287000"/>
  <p:notesSz cx="6858000" cy="9144000"/>
  <p:embeddedFontLst>
    <p:embeddedFont>
      <p:font typeface="Century Gothic Paneuropean" panose="020B0604020202020204" charset="0"/>
      <p:regular r:id="rId19"/>
    </p:embeddedFont>
    <p:embeddedFont>
      <p:font typeface="Century Gothic Paneuropean Bold" panose="020B0604020202020204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22" autoAdjust="0"/>
  </p:normalViewPr>
  <p:slideViewPr>
    <p:cSldViewPr>
      <p:cViewPr>
        <p:scale>
          <a:sx n="50" d="100"/>
          <a:sy n="50" d="100"/>
        </p:scale>
        <p:origin x="404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8DB1D-63ED-4377-8A22-53FE6ED4F39A}" type="datetimeFigureOut">
              <a:rPr lang="en-IN" smtClean="0"/>
              <a:t>27-01-2026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432C3-5F0F-408D-BD38-EB1ECBDB7C5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502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432C3-5F0F-408D-BD38-EB1ECBDB7C5E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542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53868" y="1349851"/>
            <a:ext cx="13243330" cy="182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7"/>
              </a:lnSpc>
            </a:pPr>
            <a:endParaRPr dirty="0"/>
          </a:p>
          <a:p>
            <a:pPr algn="ctr">
              <a:lnSpc>
                <a:spcPts val="4977"/>
              </a:lnSpc>
            </a:pPr>
            <a:r>
              <a:rPr lang="en-US" sz="3555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AGENT</a:t>
            </a:r>
            <a:r>
              <a:rPr lang="en-US" sz="3555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-ORCHESTRATED AUTOMATED QUESTION PAPER VALIDATION USING MCP TOOLS AND RAG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15870" y="4991101"/>
            <a:ext cx="13243330" cy="2824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Student Name:</a:t>
            </a:r>
            <a:r>
              <a:rPr lang="en-US" sz="30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Janani Sri S K</a:t>
            </a:r>
          </a:p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Register Number:</a:t>
            </a:r>
            <a:r>
              <a:rPr lang="en-US" sz="30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2024178024</a:t>
            </a:r>
          </a:p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Class:</a:t>
            </a:r>
            <a:r>
              <a:rPr lang="en-US" sz="30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MCA, Regular</a:t>
            </a:r>
          </a:p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Institution:</a:t>
            </a:r>
            <a:r>
              <a:rPr lang="en-US" sz="30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College of Engineering, Guindy</a:t>
            </a:r>
          </a:p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Guide Name &amp; Designation: </a:t>
            </a:r>
            <a:r>
              <a:rPr lang="en-US" sz="304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Dr. K. Kulothungan , Associate Professor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39365" y="1564424"/>
            <a:ext cx="8537178" cy="728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09415" y="3013813"/>
            <a:ext cx="15149885" cy="515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Question paper quality directly affects learning outcomes and assessment fairness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Current evaluation of question papers is completely manual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Faculty manually assess Bloom’s level, difficulty, and CO alignment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evaluation is subjective and inconsistent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Advances in NLP, embeddings, and RAG enable automated academic evaluation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project proposes an AI-driven solution for question validation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7034" y="1589189"/>
            <a:ext cx="853717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06004" y="3252174"/>
            <a:ext cx="13519424" cy="538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system exists to evaluate typed examination questions</a:t>
            </a:r>
          </a:p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Bloom’s Taxonomy classification depends on evaluator experience</a:t>
            </a:r>
          </a:p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Course Outcome (CO) mapping is manually performed</a:t>
            </a:r>
          </a:p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Difficulty balance checking is time-consuming</a:t>
            </a:r>
          </a:p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Rubric creation lacks syllabus grounding</a:t>
            </a:r>
          </a:p>
          <a:p>
            <a:pPr marL="731344" lvl="1" indent="-365672" algn="l">
              <a:lnSpc>
                <a:spcPts val="4742"/>
              </a:lnSpc>
              <a:buFont typeface="Arial"/>
              <a:buChar char="•"/>
            </a:pPr>
            <a:r>
              <a:rPr lang="en-US" sz="3387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Evaluation of one question paper takes 10–45 minutes</a:t>
            </a:r>
          </a:p>
          <a:p>
            <a:pPr algn="l">
              <a:lnSpc>
                <a:spcPts val="4742"/>
              </a:lnSpc>
            </a:pPr>
            <a:endParaRPr lang="en-US" sz="3387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322697"/>
            <a:ext cx="8537178" cy="69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36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BASE PAPER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-3909107" y="3067917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DF2AE-36F9-CB76-9EA5-DBBC56C0E5E3}"/>
              </a:ext>
            </a:extLst>
          </p:cNvPr>
          <p:cNvSpPr txBox="1"/>
          <p:nvPr/>
        </p:nvSpPr>
        <p:spPr>
          <a:xfrm>
            <a:off x="609600" y="1163446"/>
            <a:ext cx="14883549" cy="914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Century Gothic Paneuropean" panose="020B0604020202020204" charset="0"/>
                <a:cs typeface="Century Gothic Paneuropean" panose="020B0604020202020204" charset="0"/>
              </a:rPr>
              <a:t>Rubric-Aligned Automated Essay Grading and Personalized Feedback Generation using Multi-Task BERT LLM - </a:t>
            </a:r>
            <a:r>
              <a:rPr lang="en-IN" sz="2800" i="1" dirty="0">
                <a:latin typeface="Century Gothic Paneuropean" panose="020B0604020202020204" charset="0"/>
                <a:cs typeface="Century Gothic Paneuropean" panose="020B0604020202020204" charset="0"/>
              </a:rPr>
              <a:t>IEEE ICIMIA 2025</a:t>
            </a: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None/>
            </a:pP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Problem Addressed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Manual essay evaluation is </a:t>
            </a: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time-consuming, subjective, and inconsistent</a:t>
            </a: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Existing automated grading systems lack: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Rubric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Interpretability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Personalized feedback</a:t>
            </a:r>
            <a:b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Key Techniques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Transformer Model:</a:t>
            </a: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 BERT (fine-tuned)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Multi-Task Learning:</a:t>
            </a: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 Parallel rubric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Rubric Dimensions:</a:t>
            </a: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 Concept, Elaboration, Coverage, </a:t>
            </a:r>
          </a:p>
          <a:p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                                      Comparison, Criticism,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Evaluation Metrics:</a:t>
            </a: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Precision, Recall, F1, QWK score</a:t>
            </a:r>
          </a:p>
          <a:p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      (≈ 0.79)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br>
              <a:rPr lang="en-IN" sz="24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endParaRPr lang="en-IN" sz="2400" dirty="0"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230E3-C602-9C56-AA93-E5DAF443CCF0}"/>
              </a:ext>
            </a:extLst>
          </p:cNvPr>
          <p:cNvSpPr txBox="1"/>
          <p:nvPr/>
        </p:nvSpPr>
        <p:spPr>
          <a:xfrm>
            <a:off x="11013628" y="5464193"/>
            <a:ext cx="86868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Relevance to this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Validates: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CO-aligned evaluation</a:t>
            </a: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Explainable scoring</a:t>
            </a: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Rubric-based academic assessment</a:t>
            </a: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Inspires: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Bloom &amp; CO evaluation modules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Structured template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AI-assisted academic validation</a:t>
            </a:r>
          </a:p>
          <a:p>
            <a:endParaRPr lang="en-IN" sz="2400" dirty="0"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529352" y="9975432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CE4825D-AF23-929A-E00B-CD3B068B5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93"/>
          <a:stretch>
            <a:fillRect/>
          </a:stretch>
        </p:blipFill>
        <p:spPr>
          <a:xfrm>
            <a:off x="2598876" y="84871"/>
            <a:ext cx="13236959" cy="1046882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93046" y="84871"/>
            <a:ext cx="853717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1028700" y="690033"/>
            <a:ext cx="12773212" cy="64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3839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PLATFORM / TOOLS / LANGUAGE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1569058" y="1714500"/>
            <a:ext cx="16646356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/>
              <a:t>Language:</a:t>
            </a:r>
            <a:br>
              <a:rPr lang="en-IN" sz="3200" dirty="0"/>
            </a:br>
            <a:r>
              <a:rPr lang="en-IN" sz="3200" dirty="0"/>
              <a:t>Python (AI pipeline &amp; backend), JavaScript (frontend)</a:t>
            </a:r>
          </a:p>
          <a:p>
            <a:r>
              <a:rPr lang="en-IN" sz="3200" b="1" dirty="0"/>
              <a:t>Backend Framework:</a:t>
            </a:r>
            <a:br>
              <a:rPr lang="en-IN" sz="3200" dirty="0"/>
            </a:br>
            <a:r>
              <a:rPr lang="en-IN" sz="3200" dirty="0"/>
              <a:t>FastAPI (agent orchestration and MCP-style tool APIs)</a:t>
            </a:r>
          </a:p>
          <a:p>
            <a:r>
              <a:rPr lang="en-IN" sz="3200" b="1" dirty="0"/>
              <a:t>AI / NLP Models:</a:t>
            </a:r>
            <a:br>
              <a:rPr lang="en-IN" sz="3200" dirty="0"/>
            </a:br>
            <a:r>
              <a:rPr lang="en-IN" sz="3200" dirty="0"/>
              <a:t>Sentence-BERT </a:t>
            </a:r>
            <a:r>
              <a:rPr lang="en-IN" sz="3200" i="1" dirty="0"/>
              <a:t>(e5-small-v2)</a:t>
            </a:r>
            <a:r>
              <a:rPr lang="en-IN" sz="3200" dirty="0"/>
              <a:t> – embeddings, syllabus matching, CO mapping</a:t>
            </a:r>
          </a:p>
          <a:p>
            <a:r>
              <a:rPr lang="en-IN" sz="3200" b="1" dirty="0"/>
              <a:t>ML Utilities:</a:t>
            </a:r>
            <a:br>
              <a:rPr lang="en-IN" sz="3200" dirty="0"/>
            </a:br>
            <a:r>
              <a:rPr lang="en-IN" sz="3200" dirty="0"/>
              <a:t>NumPy – similarity scoring and strength computation</a:t>
            </a:r>
            <a:br>
              <a:rPr lang="en-IN" sz="3200" dirty="0"/>
            </a:br>
            <a:r>
              <a:rPr lang="en-IN" sz="3200" dirty="0"/>
              <a:t>Regex-based preprocessing – text normalization</a:t>
            </a:r>
          </a:p>
          <a:p>
            <a:r>
              <a:rPr lang="en-IN" sz="3200" b="1" dirty="0"/>
              <a:t>Vector Database:</a:t>
            </a:r>
            <a:br>
              <a:rPr lang="en-IN" sz="3200" dirty="0"/>
            </a:br>
            <a:r>
              <a:rPr lang="en-IN" sz="3200" dirty="0"/>
              <a:t>FAISS (CPU-based) – syllabus, subtopic, and book embedding retrieval</a:t>
            </a:r>
          </a:p>
          <a:p>
            <a:r>
              <a:rPr lang="en-IN" sz="3200" b="1" dirty="0"/>
              <a:t>Frontend:</a:t>
            </a:r>
            <a:br>
              <a:rPr lang="en-IN" sz="3200" dirty="0"/>
            </a:br>
            <a:r>
              <a:rPr lang="en-IN" sz="3200" dirty="0"/>
              <a:t>ReactJS, Tailwind CSS</a:t>
            </a:r>
          </a:p>
          <a:p>
            <a:r>
              <a:rPr lang="en-IN" sz="3200" b="1" dirty="0"/>
              <a:t>Execution Environment:</a:t>
            </a:r>
            <a:br>
              <a:rPr lang="en-IN" sz="3200" dirty="0"/>
            </a:br>
            <a:r>
              <a:rPr lang="en-IN" sz="3200" dirty="0"/>
              <a:t>Local CPU-based system (inference-only) with limited external LLM usage for controlled generation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9647" y="488672"/>
            <a:ext cx="13179982" cy="74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375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MODULES - COMPLETED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95986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31803DA-ACD5-21B3-3DF7-EDA9AB8F3714}"/>
              </a:ext>
            </a:extLst>
          </p:cNvPr>
          <p:cNvSpPr txBox="1"/>
          <p:nvPr/>
        </p:nvSpPr>
        <p:spPr>
          <a:xfrm>
            <a:off x="1569058" y="1494999"/>
            <a:ext cx="16253553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MODULE 1: COURSE KNOWLEDGE SETUP &amp; DENSIFICATION</a:t>
            </a:r>
          </a:p>
          <a:p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Professor uploads </a:t>
            </a: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syllabus, Course Outcomes (COs), and reference book PDFs</a:t>
            </a:r>
            <a:endParaRPr lang="en-US" altLang="en-US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Syllabus text is normalized and split into </a:t>
            </a: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atomic subtopics</a:t>
            </a:r>
            <a:endParaRPr lang="en-US" altLang="en-US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Reference books are extracted, chunked, and semantically matched to syllabus units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Sentence-BERT (e5-small-v2)</a:t>
            </a: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generates embeddings for syllabus and book content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Book and syllabus embeddings are </a:t>
            </a: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densified</a:t>
            </a: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using weighted fusion (30 and 70 ratio)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All vectors are stored in </a:t>
            </a: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course-isolated FAISS indices</a:t>
            </a:r>
            <a:endParaRPr lang="en-US" altLang="en-US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A </a:t>
            </a:r>
            <a:r>
              <a:rPr lang="en-US" alt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course-level domain embedding</a:t>
            </a:r>
            <a:r>
              <a:rPr lang="en-US" alt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 is created for scope validation</a:t>
            </a:r>
          </a:p>
          <a:p>
            <a:b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                                                                                                 </a:t>
            </a:r>
          </a:p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Official course syllabus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Course Outcomes (COs)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Reference book PDFs</a:t>
            </a:r>
          </a:p>
          <a:p>
            <a:pPr>
              <a:buNone/>
            </a:pPr>
            <a:b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endParaRPr lang="en-IN" sz="2800" dirty="0"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B04FF6-1E32-2162-E0BC-0F85599ED0AC}"/>
              </a:ext>
            </a:extLst>
          </p:cNvPr>
          <p:cNvSpPr txBox="1"/>
          <p:nvPr/>
        </p:nvSpPr>
        <p:spPr>
          <a:xfrm>
            <a:off x="10306722" y="7601422"/>
            <a:ext cx="808538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Atomic syllabus subtopics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Densified unit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Course-level domain embedding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Century Gothic Paneuropean" panose="020B0604020202020204" charset="0"/>
                <a:cs typeface="Century Gothic Paneuropean" panose="020B0604020202020204" charset="0"/>
              </a:rPr>
              <a:t>Course-isolated FAISS index with metadata</a:t>
            </a:r>
          </a:p>
          <a:p>
            <a:endParaRPr lang="en-IN" dirty="0"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3518-64FA-3F5E-EFB5-E9ED9697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3D54A1A-C4A9-EF79-27C5-4CE89460E6B2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CB732E-6E85-1265-26F0-A8509A7F93E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070A644-44DC-2956-336B-9230872E3C04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FD69927-E493-B59B-27C8-8B309D853ED3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0D8B03-5008-AFF0-536E-388D3A62EB59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3759C6E-413E-B9DB-4E4D-FB5038168BCA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4E66C8C-B024-6441-88C2-8BB8AD0B2568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75815B7-1BC1-BFC4-E8E7-CB056BE67FDE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C8287F1-5FA9-5032-EDD6-963F635B2D83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78CCCB1-E04D-A969-927D-DD1636CECE1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1840639-FC47-D8F8-702D-45E29743AB3A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A780BFE-8A79-B5DD-324F-1629EDCE7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505001"/>
            <a:ext cx="15499743" cy="856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9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B7B9-F8B2-67EF-5A33-4EC1AC18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2F15A55-75D6-1267-C828-146256F27597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0C55A7-89B1-A2E8-C156-DDDB22AFC64B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23023F1-7A35-96D4-693F-031B4EF7E4D8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CF8ED53-1434-BC6E-B261-17D08B27285A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1F6F60-6E53-C986-73B5-C9D402800E9D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4A5DD71-776A-2F7A-B660-76575AC3EA1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D3407DF-B6F6-6206-5D2E-E9B02808D288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72BD6B9-1EBF-320E-A900-8406E8405777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AC6F906-D122-2D4E-9403-24C7729EC7F5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43AC201-C977-A853-9407-B803099B002F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5B3EDE2-009C-4BAB-9AA6-3B44335BE668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6FE34-2724-9C34-40E3-03864F232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7" t="11927" r="25798" b="5733"/>
          <a:stretch>
            <a:fillRect/>
          </a:stretch>
        </p:blipFill>
        <p:spPr>
          <a:xfrm>
            <a:off x="152400" y="819933"/>
            <a:ext cx="9199664" cy="82826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F6003F-E033-8A66-42C4-B8E08AC33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8" t="11587" r="25483" b="6072"/>
          <a:stretch>
            <a:fillRect/>
          </a:stretch>
        </p:blipFill>
        <p:spPr>
          <a:xfrm>
            <a:off x="9476294" y="819933"/>
            <a:ext cx="8800109" cy="828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84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E190D-AD19-6AFC-99C4-79DEE388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CE1F499-BC1F-B7DB-EC8C-6BFA8CB317BA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D8FDDCD-4241-FDEB-4BC8-834519FB5258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456427C-AA22-CB62-3708-E8DC7716015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030C25D-0175-63DC-B12D-D1DE3878DC34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A91293F-9EF3-20AB-F55D-35CE725B615E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7139002-CBA5-192E-05DE-038931BF86A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7A59FBA-3112-0528-092D-BA6FBD94661E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C38C2F-74DA-19DC-57E1-DC3AEB66FEEB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6FFC5A3-9B65-BE09-0326-E3B5C1E5480A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2CBC3CE-531D-6026-35D9-3F279B93ABA9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34E014B-3754-C59D-06ED-C71FAB151011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54A82B-71BC-F419-FA89-E94536E841FE}"/>
              </a:ext>
            </a:extLst>
          </p:cNvPr>
          <p:cNvSpPr txBox="1"/>
          <p:nvPr/>
        </p:nvSpPr>
        <p:spPr>
          <a:xfrm>
            <a:off x="1028700" y="752438"/>
            <a:ext cx="15468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Century Gothic Paneuropean" panose="020B0604020202020204" charset="0"/>
                <a:cs typeface="Century Gothic Paneuropean" panose="020B0604020202020204" charset="0"/>
              </a:rPr>
              <a:t>MODULE 2: QUESTION INPUT, EVALUATION ENTRY &amp; CO–UNIT IDENTIFICATION</a:t>
            </a:r>
          </a:p>
          <a:p>
            <a:pPr>
              <a:buNone/>
            </a:pPr>
            <a:endParaRPr lang="en-US" sz="2800" b="1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4011BFDE-086F-2485-17A8-F4BFFABAA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058" y="1768101"/>
            <a:ext cx="15354300" cy="454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Question text is cleaned and normalized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regex-based preprocessing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Sentence-BERT (e5-small-v2)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generates the question embedding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Request is routed through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central agent orchestrator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 via FastAPI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Semantic similarity search is performed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course-isolated FAISS index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The system identifies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most relevant syllabus unit and Course Outcome (CO)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Faculty selects the course and enters a question through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React-based UI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Similarity scores are returned to ensure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Paneuropean" panose="020B0604020202020204" charset="0"/>
                <a:cs typeface="Century Gothic Paneuropean" panose="020B0604020202020204" charset="0"/>
              </a:rPr>
              <a:t>explainable decisions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Paneuropean" panose="020B0604020202020204" charset="0"/>
              <a:cs typeface="Century Gothic Paneuropean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6708D9-94A7-6F32-7B56-06A44F1EE95C}"/>
              </a:ext>
            </a:extLst>
          </p:cNvPr>
          <p:cNvSpPr txBox="1"/>
          <p:nvPr/>
        </p:nvSpPr>
        <p:spPr>
          <a:xfrm>
            <a:off x="2076060" y="7147943"/>
            <a:ext cx="4191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Faculty-entered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Selected course identifier</a:t>
            </a:r>
          </a:p>
          <a:p>
            <a:pPr>
              <a:buNone/>
            </a:pPr>
            <a:br>
              <a:rPr lang="en-US" sz="2800" dirty="0"/>
            </a:br>
            <a:endParaRPr lang="en-U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ECCDA5-8BCE-FEFA-C75D-8A185F6A8DA0}"/>
              </a:ext>
            </a:extLst>
          </p:cNvPr>
          <p:cNvSpPr txBox="1"/>
          <p:nvPr/>
        </p:nvSpPr>
        <p:spPr>
          <a:xfrm>
            <a:off x="9906000" y="7147943"/>
            <a:ext cx="643477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entury Gothic Paneuropean" panose="020B0604020202020204" charset="0"/>
                <a:cs typeface="Century Gothic Paneuropean" panose="020B0604020202020204" charset="0"/>
              </a:rPr>
              <a:t>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In-syllabus / scope decision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Matched syllabus unit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Predicted Course Outcome (CO)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 Paneuropean" panose="020B0604020202020204" charset="0"/>
                <a:cs typeface="Century Gothic Paneuropean" panose="020B0604020202020204" charset="0"/>
              </a:rPr>
              <a:t>Similarity confidence scores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4005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D329-3C23-46A7-D38E-D4940F4B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C2AA8E1-6E77-33A4-BC2C-D8E3EBF136E8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D408E1-F43D-8AFF-EC53-40BAC601F6A1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2B50CC-E9BF-E901-3767-A05B389E52CE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7F69332-92B7-76BE-5A00-BA872F5BD8C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0270B7-A656-AE14-FE35-02F91344722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A5FFA20-E475-06CF-9ABF-AE4D2B676123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7D1B52B-C1F2-1A29-FCB8-9778C9EA2BF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71FD3F8-EC2C-28C2-3D1A-CB67C1AB2628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2AA52C4-A92B-8C20-2ADE-5EAE5A6B1AF6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2AE0112-F69A-7C8B-28F5-ACF935D908B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F16791A-98FE-FA19-A5FF-19475BD2C488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24ABB8-80C9-9E44-5552-57F9876CA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36" y="2111674"/>
            <a:ext cx="16814877" cy="561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4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3D9FA-F153-24C8-4761-3F97A4EA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58F4CBE-FFEE-5F67-D588-D134793695B5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9A06D6-19F7-B5A6-0C67-58BAA4A8046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3F31E3-2AC3-63A5-9368-4615BD2D7566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52367C0-3AC2-0F63-AD93-574C416AA91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94F6D0-FBA8-6F01-B44E-F0A26655F315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AAC2FE6-FFFE-1449-5B51-4BE140887C19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90F7680-A012-8DCA-90C1-0A02417E4884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89F918F-9E8F-AF77-866F-96E428940D58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9C9A875-0789-4405-91FD-CD0462A34AFA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B26154C-BAFD-E5AB-9262-FEA5CD2F3874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AE292D9-F434-A367-6692-5CEEAF2198EF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53A0631-DD40-73FA-D936-66683AAD0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7" t="11098" r="21294" b="7192"/>
          <a:stretch>
            <a:fillRect/>
          </a:stretch>
        </p:blipFill>
        <p:spPr>
          <a:xfrm>
            <a:off x="8751810" y="941851"/>
            <a:ext cx="9327542" cy="73186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F3D905-DE33-5990-2878-E3DB4E74AB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2" t="10791" r="26082" b="7499"/>
          <a:stretch>
            <a:fillRect/>
          </a:stretch>
        </p:blipFill>
        <p:spPr>
          <a:xfrm>
            <a:off x="304800" y="952500"/>
            <a:ext cx="8413143" cy="762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8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1481-B979-4317-4D22-41B0A433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D1A8378-3750-20BE-573C-E9A6DAC4273C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2AB67CF-39C1-9785-0C90-C091F2FE34F3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84366D9-F2BA-537A-F897-B88AE8D36AE9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8BD97D5-19A7-ADF0-7A72-0A903B863209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54091E5-4336-EE1B-4531-E5D40123B112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6BCD32-2CDA-93F6-B187-6453EF0870D7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8EBABF7-B950-D848-A6A0-6D4D36993E0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C62CABC-2697-6BB9-F580-1548412EF1B9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CBAB6FD-2CEC-4976-7ABC-85BE1637D341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E8A5F56-336D-B546-047A-7191018BFA71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99F82DD-EA94-FC35-5012-54666D724F4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C16F502-82DD-68BF-95A5-6C3EC24D5B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437"/>
          <a:stretch>
            <a:fillRect/>
          </a:stretch>
        </p:blipFill>
        <p:spPr>
          <a:xfrm>
            <a:off x="1907634" y="3050485"/>
            <a:ext cx="14472731" cy="31013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D574171-31AD-2777-7C08-D30E1437DABD}"/>
              </a:ext>
            </a:extLst>
          </p:cNvPr>
          <p:cNvSpPr txBox="1"/>
          <p:nvPr/>
        </p:nvSpPr>
        <p:spPr>
          <a:xfrm>
            <a:off x="1585387" y="1043684"/>
            <a:ext cx="4740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Century Gothic Paneuropean" panose="020B0604020202020204" charset="0"/>
                <a:cs typeface="Century Gothic Paneuropean" panose="020B0604020202020204" charset="0"/>
              </a:rPr>
              <a:t>Evaluation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072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2648-5B9F-A370-3186-240FF761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738F9C6-75E7-CF92-28B3-8A8037C6A89E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50CFE6D-75DD-43D6-7D50-ACCAA53480D1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7F037A-E2DD-8E0B-77AB-328189E1562D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B2F6D44-1C5C-EFB6-934A-7649CB43AE27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92FE3D-2453-2586-2C21-31998172C82E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84414C6-9F91-DA6A-26E9-DFA2F2735C70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2D2834A-684A-6FCC-202D-FBCAECEE143F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4F7F354-F8CD-11F0-B392-28C8E900BEB7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CB4F3EE-3174-9849-B440-7C635BD83B64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C498E93-34DC-EB18-4EDF-F5847C9C201A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4DD5108-B6BE-4241-0773-0AC9016B3E27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8DD7152-9DE3-9DC6-F3E5-2128D5F862DE}"/>
              </a:ext>
            </a:extLst>
          </p:cNvPr>
          <p:cNvSpPr txBox="1"/>
          <p:nvPr/>
        </p:nvSpPr>
        <p:spPr>
          <a:xfrm>
            <a:off x="1222624" y="726906"/>
            <a:ext cx="16036676" cy="883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Century Gothic Paneuropean" panose="020B0604020202020204" charset="0"/>
                <a:cs typeface="Century Gothic Paneuropean" panose="020B0604020202020204" charset="0"/>
              </a:rPr>
              <a:t>Module 4: Difficulty &amp; Strength Scoring</a:t>
            </a:r>
          </a:p>
          <a:p>
            <a:pPr>
              <a:buNone/>
            </a:pPr>
            <a:endParaRPr lang="en-US" sz="2800" b="1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Difficulty is estimated using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semantic complexity signals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 from embeddings.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Cognitive depth is derived from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Bloom level and syllabus coverage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Overall question strength is computed using NumPy-based scoring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Outputs objective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difficulty and strength scores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  <a:p>
            <a:pPr>
              <a:buNone/>
            </a:pPr>
            <a:b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endParaRPr lang="en-US" sz="24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None/>
            </a:pPr>
            <a:r>
              <a:rPr lang="en-US" sz="3200" b="1" dirty="0">
                <a:latin typeface="Century Gothic Paneuropean" panose="020B0604020202020204" charset="0"/>
                <a:cs typeface="Century Gothic Paneuropean" panose="020B0604020202020204" charset="0"/>
              </a:rPr>
              <a:t>Module 5: Agent-Orchestrated RAG &amp; Template Generator</a:t>
            </a:r>
          </a:p>
          <a:p>
            <a:pPr>
              <a:buNone/>
            </a:pPr>
            <a:endParaRPr lang="en-US" sz="2800" b="1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A central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Agent Orchestrator 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coordinates all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FAISS-based RAG 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fetches syllabus- and unit-aligned content, including book chunks.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Retrieved context is used to generate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evaluation templates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Produces structured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question-level analytics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  <a:p>
            <a:pPr>
              <a:buNone/>
            </a:pPr>
            <a:b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</a:br>
            <a:endParaRPr lang="en-US" sz="2400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None/>
            </a:pPr>
            <a:r>
              <a:rPr lang="en-US" sz="3200" b="1" dirty="0">
                <a:latin typeface="Century Gothic Paneuropean" panose="020B0604020202020204" charset="0"/>
                <a:cs typeface="Century Gothic Paneuropean" panose="020B0604020202020204" charset="0"/>
              </a:rPr>
              <a:t>Module 6: Syllabus-Constrained Question Generation Engine</a:t>
            </a:r>
          </a:p>
          <a:p>
            <a:pPr>
              <a:buNone/>
            </a:pPr>
            <a:endParaRPr lang="en-US" sz="3200" b="1" dirty="0">
              <a:latin typeface="Century Gothic Paneuropean" panose="020B0604020202020204" charset="0"/>
              <a:cs typeface="Century Gothic Paneuropean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Questions are generated using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syllabus units, book chunks, COs, and Bloom levels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flan-t5-small (transformer)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 is used for controlled question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Generated questions are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self-validated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 using the same evaluation pipeline.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Outputs syllabus-safe questions tagged with </a:t>
            </a:r>
            <a:r>
              <a:rPr lang="en-US" sz="2400" b="1" dirty="0">
                <a:latin typeface="Century Gothic Paneuropean" panose="020B0604020202020204" charset="0"/>
                <a:cs typeface="Century Gothic Paneuropean" panose="020B0604020202020204" charset="0"/>
              </a:rPr>
              <a:t>CO, Bloom level, and difficulty</a:t>
            </a:r>
            <a:r>
              <a:rPr lang="en-US" sz="2400" dirty="0">
                <a:latin typeface="Century Gothic Paneuropean" panose="020B0604020202020204" charset="0"/>
                <a:cs typeface="Century Gothic Paneuropean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65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800100"/>
            <a:ext cx="12387037" cy="96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4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C409D0-09F1-3241-32FF-0D41AE8AB09A}"/>
              </a:ext>
            </a:extLst>
          </p:cNvPr>
          <p:cNvSpPr txBox="1"/>
          <p:nvPr/>
        </p:nvSpPr>
        <p:spPr>
          <a:xfrm>
            <a:off x="1676400" y="2111675"/>
            <a:ext cx="155829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Jamsandekar S. S. et al.,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Rubric-Aligned Automated Essay Grading using Multi-Task BERT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ICIMIA, 2025.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Chandrapati L. M. and Rao C. K.,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Descriptive Answers Evaluation Using NLP Approaches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Access, 2024.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Chen C. H. and Shiu M. F.,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KAQG: Knowledge-Graph-Enhanced RAG for Difficulty-Controlled Question Generation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Access, 2025.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Scott J. et al.,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Generative AI-Powered Curriculum Development using RAG and ADDIE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ISNCC, 2025.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Wei M. et al.,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Determined Multi-Label Learning via Similarity-Based Prompt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ICME, 2025.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Zhong J. and Zhang W.,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PRAGNN: Personalized Recommender using Cognitive Diagnosis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Access, 2025.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 Y. et al., </a:t>
            </a:r>
            <a:r>
              <a:rPr lang="en-US" altLang="en-US" sz="2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Personalized English Test Question Recommendation using Bi-GRU and BERT</a:t>
            </a:r>
            <a:r>
              <a:rPr lang="en-US" altLang="en-US" sz="2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ICICNCT, 2025.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76E06A07-5859-831D-BF47-C946E7D71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7538-BBEA-11EA-6C8B-10375E8A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1117B0F-48EA-B6A6-36B4-17C52F7C3D99}"/>
              </a:ext>
            </a:extLst>
          </p:cNvPr>
          <p:cNvSpPr txBox="1"/>
          <p:nvPr/>
        </p:nvSpPr>
        <p:spPr>
          <a:xfrm>
            <a:off x="2950481" y="4127648"/>
            <a:ext cx="1238703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0B9934-F830-133F-F31E-E604B847960E}"/>
              </a:ext>
            </a:extLst>
          </p:cNvPr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C8023F-1E00-FBA9-F1F8-BA98ECB064FE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A315AF-C97E-E5FC-E98F-C9CDB02B53D0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80F765B-D8A7-4246-7091-D8B1DFD50396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339D3C5-3549-80E6-028B-78D571DA5B7C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764237-09E1-1AA4-57FE-101D64D1805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BDB806E-900B-4E65-8BFB-3D7E23CCCF57}"/>
              </a:ext>
            </a:extLst>
          </p:cNvPr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81AB12B-11C3-F6F5-88F5-4115B28C4739}"/>
              </a:ext>
            </a:extLst>
          </p:cNvPr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AC97E0C-37B0-141D-3BC5-47D51FA41582}"/>
              </a:ext>
            </a:extLst>
          </p:cNvPr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771E058-8FD9-4809-289F-895CFC8F4AB5}"/>
                </a:ext>
              </a:extLst>
            </p:cNvPr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3DC7303-4F08-4CA2-FA40-A7E185BD3D35}"/>
                </a:ext>
              </a:extLst>
            </p:cNvPr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55453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</TotalTime>
  <Words>901</Words>
  <Application>Microsoft Office PowerPoint</Application>
  <PresentationFormat>Custom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Century Gothic Paneuropean</vt:lpstr>
      <vt:lpstr>Open Sans</vt:lpstr>
      <vt:lpstr>Calibri</vt:lpstr>
      <vt:lpstr>Arial</vt:lpstr>
      <vt:lpstr>Century Gothic Paneuropean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janani sri</dc:creator>
  <cp:lastModifiedBy>janani sri</cp:lastModifiedBy>
  <cp:revision>36</cp:revision>
  <dcterms:created xsi:type="dcterms:W3CDTF">2006-08-16T00:00:00Z</dcterms:created>
  <dcterms:modified xsi:type="dcterms:W3CDTF">2026-01-27T05:39:39Z</dcterms:modified>
  <dc:identifier>DAG7wcY1kIY</dc:identifier>
</cp:coreProperties>
</file>